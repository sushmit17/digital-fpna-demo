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8EC"/>
                </a:solidFill>
                <a:latin typeface="Calibri"/>
              </a:rPr>
              <a:t>LBE FY2026 — Affiliate P&amp;L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8D"/>
                </a:solidFill>
                <a:latin typeface="Calibri"/>
              </a:rPr>
              <a:t>Digital FP&amp;A Manager  |  Commercial Affiliate  |  LBE FY2026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7A8D"/>
                </a:solidFill>
                <a:latin typeface="Calibri"/>
              </a:rPr>
              <a:t>EUR millions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474720" cy="13716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474720" cy="54864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170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Calibri"/>
              </a:rPr>
              <a:t>Net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703.0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6B3C"/>
                </a:solidFill>
                <a:latin typeface="Calibri"/>
              </a:rPr>
              <a:t>+1.5 vs Budget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1097280"/>
            <a:ext cx="3474720" cy="13716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1097280"/>
            <a:ext cx="3474720" cy="54864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170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Calibri"/>
              </a:rPr>
              <a:t>Distribution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543.9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6B3C"/>
                </a:solidFill>
                <a:latin typeface="Calibri"/>
              </a:rPr>
              <a:t>+2.2 vs Budget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1097280"/>
            <a:ext cx="3474720" cy="13716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1097280"/>
            <a:ext cx="3474720" cy="54864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170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Calibri"/>
              </a:rPr>
              <a:t>Division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1463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360.5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6B3C"/>
                </a:solidFill>
                <a:latin typeface="Calibri"/>
              </a:rPr>
              <a:t>+7.3 vs Budget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06040"/>
            <a:ext cx="11640312" cy="36576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VARIANCE NARRATIVE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971800"/>
            <a:ext cx="11612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F3E"/>
                </a:solidFill>
                <a:latin typeface="Calibri"/>
              </a:rPr>
              <a:t>The affiliate delivered Net Sales of EUR 703.0M for FY2026 LBE, EUR 1.5M above Budget, with Division Margin of EUR 360.5M, EUR 7.3M favourable to Budget, driven by strong SG&amp;A discipline.
Immunology at EUR 333.3M leads performance, driven by continued Immuno-A volume growth and accelerating Immuno-B uptake following its recent launch (+EUR 23.4M vs Budget). Oncology reached EUR 203.2M, EUR 9.2M below Budget primarily due to delayed Onco-Prime patient identification in H1, with partial recovery expected in H2. Neurology delivered EUR 166.5M, EUR 5.4M above Budget on solid Neuro-Alpha volume and strong Neuro-Beta growth.
R&amp;D at EUR 48.3M is EUR 3.3M above Budget due to incremental late-stage trial support not in the original plan. SG&amp;A of EUR 135.1M is EUR 8.4M below Budget, reflecting phasing of marketing campaigns into H2 and vacancy savings across Sales Force.
Key risk: Oncology H2 recovery is the primary downside. Key opportunity: Immunology trajectory could yield EUR 8-12M additional upside through Q4 if current access trends sustain.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Sales Forecast by Therapeutic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8EC"/>
                </a:solidFill>
                <a:latin typeface="Calibri"/>
              </a:rPr>
              <a:t>Net Sales &amp; Distribution Margin — LBE FY2026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8D"/>
                </a:solidFill>
                <a:latin typeface="Calibri"/>
              </a:rPr>
              <a:t>Digital FP&amp;A Manager  |  Commercial Affiliate  |  LBE FY2026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7A8D"/>
                </a:solidFill>
                <a:latin typeface="Calibri"/>
              </a:rPr>
              <a:t>EUR millions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Net Sales by Therapeutic Area  (EUR millions)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69617"/>
            <a:ext cx="1188720" cy="3379622"/>
          </a:xfrm>
          <a:prstGeom prst="rect">
            <a:avLst/>
          </a:prstGeom>
          <a:solidFill>
            <a:srgbClr val="F2F4F8"/>
          </a:solidFill>
          <a:ln w="635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12417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A8D"/>
                </a:solidFill>
                <a:latin typeface="Calibri"/>
              </a:rPr>
              <a:t>Bgt
308.0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692005"/>
            <a:ext cx="1188720" cy="3657234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234805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F3E"/>
                </a:solidFill>
                <a:latin typeface="Calibri"/>
              </a:rPr>
              <a:t>LBE
333.3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39495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Immunology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018617"/>
            <a:ext cx="1188720" cy="2330622"/>
          </a:xfrm>
          <a:prstGeom prst="rect">
            <a:avLst/>
          </a:prstGeom>
          <a:solidFill>
            <a:srgbClr val="F2F4F8"/>
          </a:solidFill>
          <a:ln w="635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561417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A8D"/>
                </a:solidFill>
                <a:latin typeface="Calibri"/>
              </a:rPr>
              <a:t>Bgt
212.4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3119567"/>
            <a:ext cx="1188720" cy="2229672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662367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F3E"/>
                </a:solidFill>
                <a:latin typeface="Calibri"/>
              </a:rPr>
              <a:t>LBE
203.2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39495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Oncology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581521"/>
            <a:ext cx="1188720" cy="1767718"/>
          </a:xfrm>
          <a:prstGeom prst="rect">
            <a:avLst/>
          </a:prstGeom>
          <a:solidFill>
            <a:srgbClr val="F2F4F8"/>
          </a:solidFill>
          <a:ln w="635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124321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A8D"/>
                </a:solidFill>
                <a:latin typeface="Calibri"/>
              </a:rPr>
              <a:t>Bgt
161.1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0" y="3522268"/>
            <a:ext cx="1188720" cy="1826971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30650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F3E"/>
                </a:solidFill>
                <a:latin typeface="Calibri"/>
              </a:rPr>
              <a:t>LBE
166.5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39495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Neurology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8470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Calibri"/>
              </a:rPr>
              <a:t>Sales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2194560"/>
            <a:ext cx="199339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68896" y="2231136"/>
            <a:ext cx="19385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P&amp;L 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194560"/>
            <a:ext cx="667512" cy="41148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231136"/>
            <a:ext cx="6126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LBE FY2026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800" y="2194560"/>
            <a:ext cx="667512" cy="41148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6376" y="2231136"/>
            <a:ext cx="6126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vs Budget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2194560"/>
            <a:ext cx="667512" cy="41148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52176" y="2231136"/>
            <a:ext cx="6126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vs Prior LBE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201400" y="2194560"/>
            <a:ext cx="667512" cy="41148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37976" y="2231136"/>
            <a:ext cx="6126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vs 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2606040"/>
            <a:ext cx="199339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87183" y="26517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Net Sales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2606040"/>
            <a:ext cx="66751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62288" y="2651760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703.0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29800" y="2606040"/>
            <a:ext cx="66751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48088" y="2651760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+1.5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0" y="2606040"/>
            <a:ext cx="66751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33888" y="2651760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+3.9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01400" y="2606040"/>
            <a:ext cx="66751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19688" y="2651760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+111.9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2953512"/>
            <a:ext cx="199339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87183" y="29992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Distribution Margin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2953512"/>
            <a:ext cx="66751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2288" y="2999232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543.9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29800" y="2953512"/>
            <a:ext cx="66751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48088" y="2999232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+2.2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515600" y="2953512"/>
            <a:ext cx="66751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33888" y="2999232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+3.4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01400" y="2953512"/>
            <a:ext cx="66751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19688" y="2999232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+87.0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P&amp;L vs Prior LBE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8EC"/>
                </a:solidFill>
                <a:latin typeface="Calibri"/>
              </a:rPr>
              <a:t>Movement from last month's forecast (EUR millions)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8D"/>
                </a:solidFill>
                <a:latin typeface="Calibri"/>
              </a:rPr>
              <a:t>Digital FP&amp;A Manager  |  Commercial Affiliate  |  LBE FY2026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7A8D"/>
                </a:solidFill>
                <a:latin typeface="Calibri"/>
              </a:rPr>
              <a:t>EUR millions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45643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179576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P&amp;L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143000"/>
            <a:ext cx="2359152" cy="41148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1179576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LBE FY2026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2359152" cy="41148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179576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 LBE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143000"/>
            <a:ext cx="3026664" cy="411480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1179576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Variance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54480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160020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Net Sales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554480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7" y="1600200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703.0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54480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600200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699.1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1554480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5088" y="1600200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+3.9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901952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1947672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Distribution Margin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1901952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0207" y="194767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543.9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901952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194767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540.5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1901952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05088" y="1947672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+3.4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249424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2295144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Total R&amp;D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224942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50207" y="229514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48.3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24942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29514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46.1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249424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05088" y="2295144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C0392B"/>
                </a:solidFill>
                <a:latin typeface="Calibri"/>
              </a:rPr>
              <a:t>+2.2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596896"/>
            <a:ext cx="3456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2642615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Marketing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2596896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50207" y="2642615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38.4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596896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2642615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39.1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2596896"/>
            <a:ext cx="302666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05088" y="2642615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6B3C"/>
                </a:solidFill>
                <a:latin typeface="Calibri"/>
              </a:rPr>
              <a:t>(0.7)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2944368"/>
            <a:ext cx="345643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2990087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Other Advertising and Promotion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2944368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50207" y="2990087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22.7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2944368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2990087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23.4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2944368"/>
            <a:ext cx="3026664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05088" y="2990087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6B3C"/>
                </a:solidFill>
                <a:latin typeface="Calibri"/>
              </a:rPr>
              <a:t>(0.7)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291839"/>
            <a:ext cx="3456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3337559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Sales Force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3291839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50207" y="3337559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54.2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3291839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27648" y="3337559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54.8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3291839"/>
            <a:ext cx="302666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05088" y="3337559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6B3C"/>
                </a:solidFill>
                <a:latin typeface="Calibri"/>
              </a:rPr>
              <a:t>(0.6)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639312"/>
            <a:ext cx="345643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3685032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General Admin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31920" y="3639312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50207" y="368503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19.8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3639312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368503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20.1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86800" y="3639312"/>
            <a:ext cx="3026664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05088" y="3685032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6B3C"/>
                </a:solidFill>
                <a:latin typeface="Calibri"/>
              </a:rPr>
              <a:t>(0.3)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986784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2064" y="4032504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Total SG&amp;A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31920" y="398678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50207" y="403250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135.1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398678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27648" y="403250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137.4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86800" y="3986784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05088" y="4032504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(2.3)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4334256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2064" y="4379976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Division Margin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31920" y="4334256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50207" y="4379976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360.5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09360" y="4334256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27648" y="4379976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357.0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86800" y="4334256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05088" y="4379976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+3.5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P&amp;L vs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8EC"/>
                </a:solidFill>
                <a:latin typeface="Calibri"/>
              </a:rPr>
              <a:t>FY2026 performance against approved plan (EUR millions)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8D"/>
                </a:solidFill>
                <a:latin typeface="Calibri"/>
              </a:rPr>
              <a:t>Digital FP&amp;A Manager  |  Commercial Affiliate  |  LBE FY2026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7A8D"/>
                </a:solidFill>
                <a:latin typeface="Calibri"/>
              </a:rPr>
              <a:t>EUR millions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45643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179576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P&amp;L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143000"/>
            <a:ext cx="2359152" cy="41148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1179576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LBE FY2026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2359152" cy="41148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179576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143000"/>
            <a:ext cx="3026664" cy="411480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1179576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Variance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54480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160020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Net Sales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554480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7" y="1600200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703.0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54480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600200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701.5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1554480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5088" y="1600200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+1.5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901952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1947672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Distribution Margin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1901952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0207" y="194767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543.9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901952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194767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541.7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1901952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05088" y="1947672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+2.2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249424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2295144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Total R&amp;D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224942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50207" y="229514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48.3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24942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29514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45.0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249424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05088" y="2295144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C0392B"/>
                </a:solidFill>
                <a:latin typeface="Calibri"/>
              </a:rPr>
              <a:t>+3.3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596896"/>
            <a:ext cx="3456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2642615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Marketing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2596896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50207" y="2642615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38.4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596896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2642615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41.0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2596896"/>
            <a:ext cx="302666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05088" y="2642615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6B3C"/>
                </a:solidFill>
                <a:latin typeface="Calibri"/>
              </a:rPr>
              <a:t>(2.6)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2944368"/>
            <a:ext cx="345643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2990087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Other Advertising and Promotion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2944368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50207" y="2990087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22.7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2944368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2990087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25.0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2944368"/>
            <a:ext cx="3026664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05088" y="2990087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6B3C"/>
                </a:solidFill>
                <a:latin typeface="Calibri"/>
              </a:rPr>
              <a:t>(2.3)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291839"/>
            <a:ext cx="3456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3337559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Sales Force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3291839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50207" y="3337559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54.2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3291839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27648" y="3337559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56.0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3291839"/>
            <a:ext cx="302666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05088" y="3337559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6B3C"/>
                </a:solidFill>
                <a:latin typeface="Calibri"/>
              </a:rPr>
              <a:t>(1.8)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639312"/>
            <a:ext cx="345643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3685032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General Admin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31920" y="3639312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50207" y="368503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19.8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3639312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368503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21.5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86800" y="3639312"/>
            <a:ext cx="3026664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05088" y="3685032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6B3C"/>
                </a:solidFill>
                <a:latin typeface="Calibri"/>
              </a:rPr>
              <a:t>(1.7)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986784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2064" y="4032504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Total SG&amp;A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31920" y="398678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50207" y="403250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135.1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398678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27648" y="403250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143.5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86800" y="3986784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05088" y="4032504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(8.4)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4334256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2064" y="4379976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Division Margin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31920" y="4334256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50207" y="4379976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360.5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09360" y="4334256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27648" y="4379976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353.2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86800" y="4334256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05088" y="4379976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+7.3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P&amp;L vs Prior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8EC"/>
                </a:solidFill>
                <a:latin typeface="Calibri"/>
              </a:rPr>
              <a:t>FY2026 LBE vs FY2025 Actuals (EUR millions)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A8D"/>
                </a:solidFill>
                <a:latin typeface="Calibri"/>
              </a:rPr>
              <a:t>Digital FP&amp;A Manager  |  Commercial Affiliate  |  LBE FY2026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B7A8D"/>
                </a:solidFill>
                <a:latin typeface="Calibri"/>
              </a:rPr>
              <a:t>EUR millions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45643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179576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P&amp;L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143000"/>
            <a:ext cx="2359152" cy="41148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1179576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LBE FY2026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2359152" cy="41148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179576"/>
            <a:ext cx="2304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Prior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143000"/>
            <a:ext cx="3026664" cy="411480"/>
          </a:xfrm>
          <a:prstGeom prst="rect">
            <a:avLst/>
          </a:prstGeom>
          <a:solidFill>
            <a:srgbClr val="00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1179576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Variance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54480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1600200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Net Sales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554480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7" y="1600200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703.0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54480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600200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591.1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1554480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5088" y="1600200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+111.9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901952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1947672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Distribution Margin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1901952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0207" y="194767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543.9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901952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194767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456.9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1901952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05088" y="1947672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+87.0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249424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2295144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Total R&amp;D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224942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50207" y="229514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48.3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24942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29514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41.2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249424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05088" y="2295144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C0392B"/>
                </a:solidFill>
                <a:latin typeface="Calibri"/>
              </a:rPr>
              <a:t>+7.1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596896"/>
            <a:ext cx="3456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2642615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Marketing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2596896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50207" y="2642615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38.4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596896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2642615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35.8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2596896"/>
            <a:ext cx="302666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05088" y="2642615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0392B"/>
                </a:solidFill>
                <a:latin typeface="Calibri"/>
              </a:rPr>
              <a:t>+2.6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2944368"/>
            <a:ext cx="345643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2990087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Other Advertising and Promotion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2944368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50207" y="2990087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22.7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2944368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2990087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20.1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2944368"/>
            <a:ext cx="3026664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05088" y="2990087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0392B"/>
                </a:solidFill>
                <a:latin typeface="Calibri"/>
              </a:rPr>
              <a:t>+2.6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291839"/>
            <a:ext cx="34564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3337559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Sales Force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3291839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50207" y="3337559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54.2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3291839"/>
            <a:ext cx="2359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27648" y="3337559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51.3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3291839"/>
            <a:ext cx="302666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05088" y="3337559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0392B"/>
                </a:solidFill>
                <a:latin typeface="Calibri"/>
              </a:rPr>
              <a:t>+2.9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639312"/>
            <a:ext cx="345643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3685032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F3E"/>
                </a:solidFill>
                <a:latin typeface="Calibri"/>
              </a:rPr>
              <a:t>General Admin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31920" y="3639312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50207" y="368503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19.8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3639312"/>
            <a:ext cx="2359152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3685032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A1F3E"/>
                </a:solidFill>
                <a:latin typeface="Calibri"/>
              </a:rPr>
              <a:t>18.4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86800" y="3639312"/>
            <a:ext cx="3026664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05088" y="3685032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0392B"/>
                </a:solidFill>
                <a:latin typeface="Calibri"/>
              </a:rPr>
              <a:t>+1.4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986784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2064" y="4032504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Total SG&amp;A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31920" y="398678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50207" y="403250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135.1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3986784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27648" y="4032504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125.6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86800" y="3986784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05088" y="4032504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C0392B"/>
                </a:solidFill>
                <a:latin typeface="Calibri"/>
              </a:rPr>
              <a:t>+9.5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4334256"/>
            <a:ext cx="345643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2064" y="4379976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3864"/>
                </a:solidFill>
                <a:latin typeface="Calibri"/>
              </a:rPr>
              <a:t>Division Margin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31920" y="4334256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50207" y="4379976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360.5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09360" y="4334256"/>
            <a:ext cx="2359152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27648" y="4379976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F3864"/>
                </a:solidFill>
                <a:latin typeface="Calibri"/>
              </a:rPr>
              <a:t>290.1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86800" y="4334256"/>
            <a:ext cx="3026664" cy="329184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05088" y="4379976"/>
            <a:ext cx="2990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6B3C"/>
                </a:solidFill>
                <a:latin typeface="Calibri"/>
              </a:rPr>
              <a:t>+70.4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